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9144000"/>
  <p:embeddedFontLst>
    <p:embeddedFont>
      <p:font typeface="Lexend SemiBold"/>
      <p:regular r:id="rId21"/>
      <p:bold r:id="rId22"/>
    </p:embeddedFont>
    <p:embeddedFont>
      <p:font typeface="Inter SemiBold"/>
      <p:regular r:id="rId23"/>
      <p:bold r:id="rId24"/>
      <p:italic r:id="rId25"/>
      <p:boldItalic r:id="rId26"/>
    </p:embeddedFont>
    <p:embeddedFont>
      <p:font typeface="Inter"/>
      <p:regular r:id="rId27"/>
      <p:bold r:id="rId28"/>
      <p:italic r:id="rId29"/>
      <p:boldItalic r:id="rId30"/>
    </p:embeddedFont>
    <p:embeddedFont>
      <p:font typeface="Lexend Medium"/>
      <p:regular r:id="rId31"/>
      <p:bold r:id="rId32"/>
    </p:embeddedFont>
    <p:embeddedFont>
      <p:font typeface="Lexend"/>
      <p:regular r:id="rId33"/>
      <p:bold r:id="rId34"/>
    </p:embeddedFont>
    <p:embeddedFont>
      <p:font typeface="Inter Medium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LexendSemiBold-bold.fntdata"/><Relationship Id="rId21" Type="http://schemas.openxmlformats.org/officeDocument/2006/relationships/font" Target="fonts/LexendSemiBold-regular.fntdata"/><Relationship Id="rId24" Type="http://schemas.openxmlformats.org/officeDocument/2006/relationships/font" Target="fonts/InterSemiBold-bold.fntdata"/><Relationship Id="rId23" Type="http://schemas.openxmlformats.org/officeDocument/2006/relationships/font" Target="fonts/InterSemiBold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SemiBold-boldItalic.fntdata"/><Relationship Id="rId25" Type="http://schemas.openxmlformats.org/officeDocument/2006/relationships/font" Target="fonts/InterSemiBold-italic.fntdata"/><Relationship Id="rId28" Type="http://schemas.openxmlformats.org/officeDocument/2006/relationships/font" Target="fonts/Inter-bold.fntdata"/><Relationship Id="rId27" Type="http://schemas.openxmlformats.org/officeDocument/2006/relationships/font" Target="fonts/Inter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exendMedium-regular.fntdata"/><Relationship Id="rId30" Type="http://schemas.openxmlformats.org/officeDocument/2006/relationships/font" Target="fonts/Inter-boldItalic.fntdata"/><Relationship Id="rId11" Type="http://schemas.openxmlformats.org/officeDocument/2006/relationships/slide" Target="slides/slide6.xml"/><Relationship Id="rId33" Type="http://schemas.openxmlformats.org/officeDocument/2006/relationships/font" Target="fonts/Lexend-regular.fntdata"/><Relationship Id="rId10" Type="http://schemas.openxmlformats.org/officeDocument/2006/relationships/slide" Target="slides/slide5.xml"/><Relationship Id="rId32" Type="http://schemas.openxmlformats.org/officeDocument/2006/relationships/font" Target="fonts/LexendMedium-bold.fntdata"/><Relationship Id="rId13" Type="http://schemas.openxmlformats.org/officeDocument/2006/relationships/slide" Target="slides/slide8.xml"/><Relationship Id="rId35" Type="http://schemas.openxmlformats.org/officeDocument/2006/relationships/font" Target="fonts/InterMedium-regular.fntdata"/><Relationship Id="rId12" Type="http://schemas.openxmlformats.org/officeDocument/2006/relationships/slide" Target="slides/slide7.xml"/><Relationship Id="rId34" Type="http://schemas.openxmlformats.org/officeDocument/2006/relationships/font" Target="fonts/Lexend-bold.fntdata"/><Relationship Id="rId15" Type="http://schemas.openxmlformats.org/officeDocument/2006/relationships/slide" Target="slides/slide10.xml"/><Relationship Id="rId37" Type="http://schemas.openxmlformats.org/officeDocument/2006/relationships/font" Target="fonts/InterMedium-italic.fntdata"/><Relationship Id="rId14" Type="http://schemas.openxmlformats.org/officeDocument/2006/relationships/slide" Target="slides/slide9.xml"/><Relationship Id="rId36" Type="http://schemas.openxmlformats.org/officeDocument/2006/relationships/font" Target="fonts/InterMedium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schemas.openxmlformats.org/officeDocument/2006/relationships/font" Target="fonts/InterMedium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10" Type="http://schemas.openxmlformats.org/officeDocument/2006/relationships/image" Target="../media/image23.png"/><Relationship Id="rId9" Type="http://schemas.openxmlformats.org/officeDocument/2006/relationships/image" Target="../media/image17.png"/><Relationship Id="rId5" Type="http://schemas.openxmlformats.org/officeDocument/2006/relationships/image" Target="../media/image21.png"/><Relationship Id="rId6" Type="http://schemas.openxmlformats.org/officeDocument/2006/relationships/image" Target="../media/image15.png"/><Relationship Id="rId7" Type="http://schemas.openxmlformats.org/officeDocument/2006/relationships/image" Target="../media/image19.png"/><Relationship Id="rId8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11" Type="http://schemas.openxmlformats.org/officeDocument/2006/relationships/image" Target="../media/image16.png"/><Relationship Id="rId10" Type="http://schemas.openxmlformats.org/officeDocument/2006/relationships/image" Target="../media/image9.png"/><Relationship Id="rId9" Type="http://schemas.openxmlformats.org/officeDocument/2006/relationships/image" Target="../media/image26.png"/><Relationship Id="rId5" Type="http://schemas.openxmlformats.org/officeDocument/2006/relationships/image" Target="../media/image7.png"/><Relationship Id="rId6" Type="http://schemas.openxmlformats.org/officeDocument/2006/relationships/image" Target="../media/image11.png"/><Relationship Id="rId7" Type="http://schemas.openxmlformats.org/officeDocument/2006/relationships/image" Target="../media/image18.png"/><Relationship Id="rId8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9.png"/><Relationship Id="rId5" Type="http://schemas.openxmlformats.org/officeDocument/2006/relationships/image" Target="../media/image22.png"/><Relationship Id="rId6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32.png"/><Relationship Id="rId5" Type="http://schemas.openxmlformats.org/officeDocument/2006/relationships/image" Target="../media/image27.png"/><Relationship Id="rId6" Type="http://schemas.openxmlformats.org/officeDocument/2006/relationships/image" Target="../media/image31.png"/><Relationship Id="rId7" Type="http://schemas.openxmlformats.org/officeDocument/2006/relationships/image" Target="../media/image30.png"/><Relationship Id="rId8" Type="http://schemas.openxmlformats.org/officeDocument/2006/relationships/image" Target="../media/image2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9.png"/><Relationship Id="rId5" Type="http://schemas.openxmlformats.org/officeDocument/2006/relationships/image" Target="../media/image42.png"/><Relationship Id="rId6" Type="http://schemas.openxmlformats.org/officeDocument/2006/relationships/image" Target="../media/image28.png"/><Relationship Id="rId7" Type="http://schemas.openxmlformats.org/officeDocument/2006/relationships/image" Target="../media/image4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36.png"/><Relationship Id="rId5" Type="http://schemas.openxmlformats.org/officeDocument/2006/relationships/image" Target="../media/image35.png"/><Relationship Id="rId6" Type="http://schemas.openxmlformats.org/officeDocument/2006/relationships/image" Target="../media/image41.png"/><Relationship Id="rId7" Type="http://schemas.openxmlformats.org/officeDocument/2006/relationships/image" Target="../media/image3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44.png"/><Relationship Id="rId11" Type="http://schemas.openxmlformats.org/officeDocument/2006/relationships/image" Target="../media/image46.png"/><Relationship Id="rId10" Type="http://schemas.openxmlformats.org/officeDocument/2006/relationships/image" Target="../media/image34.png"/><Relationship Id="rId9" Type="http://schemas.openxmlformats.org/officeDocument/2006/relationships/image" Target="../media/image54.png"/><Relationship Id="rId5" Type="http://schemas.openxmlformats.org/officeDocument/2006/relationships/image" Target="../media/image37.png"/><Relationship Id="rId6" Type="http://schemas.openxmlformats.org/officeDocument/2006/relationships/image" Target="../media/image43.png"/><Relationship Id="rId7" Type="http://schemas.openxmlformats.org/officeDocument/2006/relationships/image" Target="../media/image39.png"/><Relationship Id="rId8" Type="http://schemas.openxmlformats.org/officeDocument/2006/relationships/image" Target="../media/image4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38.png"/><Relationship Id="rId5" Type="http://schemas.openxmlformats.org/officeDocument/2006/relationships/image" Target="../media/image4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51.png"/><Relationship Id="rId10" Type="http://schemas.openxmlformats.org/officeDocument/2006/relationships/image" Target="../media/image55.png"/><Relationship Id="rId9" Type="http://schemas.openxmlformats.org/officeDocument/2006/relationships/image" Target="../media/image58.png"/><Relationship Id="rId5" Type="http://schemas.openxmlformats.org/officeDocument/2006/relationships/image" Target="../media/image49.png"/><Relationship Id="rId6" Type="http://schemas.openxmlformats.org/officeDocument/2006/relationships/image" Target="../media/image53.png"/><Relationship Id="rId7" Type="http://schemas.openxmlformats.org/officeDocument/2006/relationships/image" Target="../media/image52.png"/><Relationship Id="rId8" Type="http://schemas.openxmlformats.org/officeDocument/2006/relationships/image" Target="../media/image5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29.png"/><Relationship Id="rId5" Type="http://schemas.openxmlformats.org/officeDocument/2006/relationships/image" Target="../media/image59.png"/><Relationship Id="rId6" Type="http://schemas.openxmlformats.org/officeDocument/2006/relationships/image" Target="../media/image5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64.png"/><Relationship Id="rId9" Type="http://schemas.openxmlformats.org/officeDocument/2006/relationships/image" Target="../media/image66.png"/><Relationship Id="rId5" Type="http://schemas.openxmlformats.org/officeDocument/2006/relationships/image" Target="../media/image61.png"/><Relationship Id="rId6" Type="http://schemas.openxmlformats.org/officeDocument/2006/relationships/image" Target="../media/image65.png"/><Relationship Id="rId7" Type="http://schemas.openxmlformats.org/officeDocument/2006/relationships/image" Target="../media/image56.png"/><Relationship Id="rId8" Type="http://schemas.openxmlformats.org/officeDocument/2006/relationships/image" Target="../media/image6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63.png"/><Relationship Id="rId5" Type="http://schemas.openxmlformats.org/officeDocument/2006/relationships/image" Target="../media/image62.png"/><Relationship Id="rId6" Type="http://schemas.openxmlformats.org/officeDocument/2006/relationships/image" Target="../media/image6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1295400"/>
            <a:ext cx="11601450" cy="1462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8FAFC"/>
                </a:solidFill>
                <a:latin typeface="Lexend"/>
                <a:ea typeface="Lexend"/>
                <a:cs typeface="Lexend"/>
                <a:sym typeface="Lexend"/>
              </a:rPr>
              <a:t>AI-Powered Financial Advisor System</a:t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5524500" y="3272730"/>
            <a:ext cx="1143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3748980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 Comprehensive Solution for Financial Planning and Investment Management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4648051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Presented by:</a:t>
            </a:r>
            <a:r>
              <a:rPr b="0" i="0" lang="en-US" sz="15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Your Team Name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571500" y="5105251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Date:</a:t>
            </a:r>
            <a:r>
              <a:rPr b="0" i="0" lang="en-US" sz="15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December 2023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10630"/>
            <a:ext cx="5238750" cy="45758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710630"/>
            <a:ext cx="5238750" cy="4575869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1343025" y="2101155"/>
            <a:ext cx="4280535" cy="319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Lexend Medium"/>
                <a:ea typeface="Lexend Medium"/>
                <a:cs typeface="Lexend Medium"/>
                <a:sym typeface="Lexend Medium"/>
              </a:rPr>
              <a:t>Purpose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962025" y="2649735"/>
            <a:ext cx="44577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To engineer a robust, AI-driven financial advisor system specifically designed for automated portfolio creation, dynamic risk profiling, and advanced investment simulations.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62025" y="4021335"/>
            <a:ext cx="4457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The system aims to democratize financial advice by providing personalized, data-backed insights comparable to human wealth managers.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7191375" y="2101155"/>
            <a:ext cx="4240530" cy="319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Lexend Medium"/>
                <a:ea typeface="Lexend Medium"/>
                <a:cs typeface="Lexend Medium"/>
                <a:sym typeface="Lexend Medium"/>
              </a:rPr>
              <a:t>Key Features</a:t>
            </a:r>
            <a:endParaRPr/>
          </a:p>
        </p:txBody>
      </p:sp>
      <p:pic>
        <p:nvPicPr>
          <p:cNvPr descr="image.png" id="101" name="Google Shape;10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2025" y="2127795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72275" y="2127795"/>
            <a:ext cx="3048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6858000" y="264973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962775" y="2649735"/>
            <a:ext cx="426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Portfolio recommendations tailored to individual risk profiles.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858000" y="341173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962775" y="3411735"/>
            <a:ext cx="426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Real-time Monte Carlo simulations for investment scenarios.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6858000" y="417373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6962775" y="4173735"/>
            <a:ext cx="426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SEBI-compliant guidance via a RAG subsystem.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6858000" y="493573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6962775" y="4935735"/>
            <a:ext cx="426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Interactive Chatbot interface for seamless user engagement.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571500" y="571500"/>
            <a:ext cx="11601450" cy="567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Introduction &amp; Overview</a:t>
            </a:r>
            <a:endParaRPr/>
          </a:p>
        </p:txBody>
      </p:sp>
      <p:sp>
        <p:nvSpPr>
          <p:cNvPr id="112" name="Google Shape;112;p14"/>
          <p:cNvSpPr/>
          <p:nvPr/>
        </p:nvSpPr>
        <p:spPr>
          <a:xfrm>
            <a:off x="571500" y="1310580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7" name="Google Shape;11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805880"/>
            <a:ext cx="523875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571500" y="1710630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The system is built on a modular architecture to ensure scalability and performance:</a:t>
            </a:r>
            <a:endParaRPr/>
          </a:p>
        </p:txBody>
      </p:sp>
      <p:pic>
        <p:nvPicPr>
          <p:cNvPr descr="image.png" id="120" name="Google Shape;12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805880"/>
            <a:ext cx="523875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1428750" y="2472630"/>
            <a:ext cx="4381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Frontend:</a:t>
            </a:r>
            <a:r>
              <a:rPr b="0" i="0" lang="en-US" sz="15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Streamlit UI for an intuitive user experience.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1428750" y="3310830"/>
            <a:ext cx="4381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Backend:</a:t>
            </a:r>
            <a:r>
              <a:rPr b="0" i="0" lang="en-US" sz="15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FastAPI orchestration layer handling API requests.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1428750" y="4149030"/>
            <a:ext cx="4381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Core Intelligence:</a:t>
            </a:r>
            <a:r>
              <a:rPr b="0" i="0" lang="en-US" sz="15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Azure GPT model managing tool execution.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1428750" y="4987230"/>
            <a:ext cx="4381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Memory Layer:</a:t>
            </a:r>
            <a:r>
              <a:rPr b="0" i="0" lang="en-US" sz="15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Redis and SQLite for state management.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1428750" y="5825430"/>
            <a:ext cx="4381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Tooling:</a:t>
            </a:r>
            <a:r>
              <a:rPr b="0" i="0" lang="en-US" sz="15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Specialized engines for Risk, Portfolio, and RAG.</a:t>
            </a:r>
            <a:endParaRPr/>
          </a:p>
        </p:txBody>
      </p:sp>
      <p:pic>
        <p:nvPicPr>
          <p:cNvPr descr="image.png" id="126" name="Google Shape;12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2501205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2500" y="333940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52500" y="417760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2500" y="501580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52500" y="5854005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5"/>
          <p:cNvSpPr txBox="1"/>
          <p:nvPr/>
        </p:nvSpPr>
        <p:spPr>
          <a:xfrm>
            <a:off x="571500" y="571500"/>
            <a:ext cx="11601450" cy="567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System Architecture</a:t>
            </a:r>
            <a:endParaRPr/>
          </a:p>
        </p:txBody>
      </p:sp>
      <p:sp>
        <p:nvSpPr>
          <p:cNvPr id="132" name="Google Shape;132;p15"/>
          <p:cNvSpPr/>
          <p:nvPr/>
        </p:nvSpPr>
        <p:spPr>
          <a:xfrm>
            <a:off x="571500" y="1310580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7" name="Google Shape;13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40359"/>
            <a:ext cx="2590800" cy="27164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90900" y="2640359"/>
            <a:ext cx="2590800" cy="27164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10300" y="2640359"/>
            <a:ext cx="2590800" cy="27164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29700" y="2640359"/>
            <a:ext cx="2590800" cy="27164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85900" y="2935634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6"/>
          <p:cNvSpPr txBox="1"/>
          <p:nvPr/>
        </p:nvSpPr>
        <p:spPr>
          <a:xfrm>
            <a:off x="1246822" y="3888134"/>
            <a:ext cx="124015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Lexend Medium"/>
                <a:ea typeface="Lexend Medium"/>
                <a:cs typeface="Lexend Medium"/>
                <a:sym typeface="Lexend Medium"/>
              </a:rPr>
              <a:t>Frontend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1457325" y="4208115"/>
            <a:ext cx="8191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Streamlit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971550" y="4665315"/>
            <a:ext cx="17907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Interactive Web Interface</a:t>
            </a:r>
            <a:endParaRPr/>
          </a:p>
        </p:txBody>
      </p:sp>
      <p:pic>
        <p:nvPicPr>
          <p:cNvPr descr="image.png" id="146" name="Google Shape;14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05300" y="2935634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/>
        </p:nvSpPr>
        <p:spPr>
          <a:xfrm>
            <a:off x="4096226" y="3888134"/>
            <a:ext cx="1180147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Lexend Medium"/>
                <a:ea typeface="Lexend Medium"/>
                <a:cs typeface="Lexend Medium"/>
                <a:sym typeface="Lexend Medium"/>
              </a:rPr>
              <a:t>Backend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4338637" y="4208115"/>
            <a:ext cx="695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FastAPI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3667125" y="4665315"/>
            <a:ext cx="20383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High-performance REST API</a:t>
            </a:r>
            <a:endParaRPr/>
          </a:p>
        </p:txBody>
      </p:sp>
      <p:pic>
        <p:nvPicPr>
          <p:cNvPr descr="image.png" id="150" name="Google Shape;150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24700" y="2935634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6"/>
          <p:cNvSpPr txBox="1"/>
          <p:nvPr/>
        </p:nvSpPr>
        <p:spPr>
          <a:xfrm>
            <a:off x="6960631" y="3888134"/>
            <a:ext cx="1090136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Lexend Medium"/>
                <a:ea typeface="Lexend Medium"/>
                <a:cs typeface="Lexend Medium"/>
                <a:sym typeface="Lexend Medium"/>
              </a:rPr>
              <a:t>Storage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6872287" y="4208115"/>
            <a:ext cx="12668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Redis &amp; FAISS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6772275" y="4665315"/>
            <a:ext cx="14668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Session &amp; Vector DB</a:t>
            </a:r>
            <a:endParaRPr/>
          </a:p>
        </p:txBody>
      </p:sp>
      <p:pic>
        <p:nvPicPr>
          <p:cNvPr descr="image.png" id="154" name="Google Shape;15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944100" y="2935634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6"/>
          <p:cNvSpPr txBox="1"/>
          <p:nvPr/>
        </p:nvSpPr>
        <p:spPr>
          <a:xfrm>
            <a:off x="9700021" y="3888134"/>
            <a:ext cx="1250156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Lexend Medium"/>
                <a:ea typeface="Lexend Medium"/>
                <a:cs typeface="Lexend Medium"/>
                <a:sym typeface="Lexend Medium"/>
              </a:rPr>
              <a:t>AI Model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9691687" y="4208115"/>
            <a:ext cx="12668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Azure OpenAI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9667875" y="4665315"/>
            <a:ext cx="13144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GPT-4 Intelligence</a:t>
            </a:r>
            <a:endParaRPr/>
          </a:p>
        </p:txBody>
      </p:sp>
      <p:pic>
        <p:nvPicPr>
          <p:cNvPr descr="image.png" id="158" name="Google Shape;158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628775" y="3126134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448175" y="3126134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315200" y="3126134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134600" y="3126134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6"/>
          <p:cNvSpPr txBox="1"/>
          <p:nvPr/>
        </p:nvSpPr>
        <p:spPr>
          <a:xfrm>
            <a:off x="571500" y="571500"/>
            <a:ext cx="11601450" cy="567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Technology Stack</a:t>
            </a:r>
            <a:endParaRPr/>
          </a:p>
        </p:txBody>
      </p:sp>
      <p:sp>
        <p:nvSpPr>
          <p:cNvPr id="163" name="Google Shape;163;p16"/>
          <p:cNvSpPr/>
          <p:nvPr/>
        </p:nvSpPr>
        <p:spPr>
          <a:xfrm>
            <a:off x="571500" y="1310580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8" name="Google Shape;16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710630"/>
            <a:ext cx="5238750" cy="4575869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7"/>
          <p:cNvSpPr txBox="1"/>
          <p:nvPr/>
        </p:nvSpPr>
        <p:spPr>
          <a:xfrm>
            <a:off x="571500" y="2247900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Purpose:</a:t>
            </a:r>
            <a:r>
              <a:rPr b="0" i="0" lang="en-US" sz="15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Ensures all financial advice is grounded in current SEBI guidelines and regulatory frameworks.</a:t>
            </a:r>
            <a:endParaRPr/>
          </a:p>
        </p:txBody>
      </p:sp>
      <p:pic>
        <p:nvPicPr>
          <p:cNvPr descr="image.png" id="171" name="Google Shape;17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710630"/>
            <a:ext cx="5238750" cy="4575869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7"/>
          <p:cNvSpPr txBox="1"/>
          <p:nvPr/>
        </p:nvSpPr>
        <p:spPr>
          <a:xfrm>
            <a:off x="571500" y="3143250"/>
            <a:ext cx="5500687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048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Lexend Medium"/>
                <a:ea typeface="Lexend Medium"/>
                <a:cs typeface="Lexend Medium"/>
                <a:sym typeface="Lexend Medium"/>
              </a:rPr>
              <a:t>Components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571500" y="3463230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FAISS Indexing:</a:t>
            </a:r>
            <a:r>
              <a:rPr b="0" i="0" lang="en-US" sz="15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High-speed vector retrieval of regulatory documents.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571500" y="4225230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Smart Chunking:</a:t>
            </a:r>
            <a:r>
              <a:rPr b="0" i="0" lang="en-US" sz="15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Splitting legal texts into semantic segments for precise context matching.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571500" y="4987230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Optimization:</a:t>
            </a:r>
            <a:r>
              <a:rPr b="0" i="0" lang="en-US" sz="15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Enhanced semantic search and topic-aware retrieval logic.</a:t>
            </a:r>
            <a:endParaRPr/>
          </a:p>
        </p:txBody>
      </p:sp>
      <p:pic>
        <p:nvPicPr>
          <p:cNvPr descr="image.png" id="176" name="Google Shape;17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171825"/>
            <a:ext cx="3048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7"/>
          <p:cNvSpPr txBox="1"/>
          <p:nvPr/>
        </p:nvSpPr>
        <p:spPr>
          <a:xfrm>
            <a:off x="571500" y="571500"/>
            <a:ext cx="11601450" cy="567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RAG (Regulatory Assisted Guidance)</a:t>
            </a:r>
            <a:endParaRPr/>
          </a:p>
        </p:txBody>
      </p:sp>
      <p:sp>
        <p:nvSpPr>
          <p:cNvPr id="178" name="Google Shape;178;p17"/>
          <p:cNvSpPr/>
          <p:nvPr/>
        </p:nvSpPr>
        <p:spPr>
          <a:xfrm>
            <a:off x="571500" y="1310580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3" name="Google Shape;18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5875" y="2093565"/>
            <a:ext cx="3810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23975" y="2131665"/>
            <a:ext cx="3733800" cy="37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8"/>
          <p:cNvSpPr txBox="1"/>
          <p:nvPr/>
        </p:nvSpPr>
        <p:spPr>
          <a:xfrm>
            <a:off x="6381750" y="2047875"/>
            <a:ext cx="5500687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Lexend Medium"/>
                <a:ea typeface="Lexend Medium"/>
                <a:cs typeface="Lexend Medium"/>
                <a:sym typeface="Lexend Medium"/>
              </a:rPr>
              <a:t>Assessing Investor Tolerance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6381750" y="2367855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The engine acts as the foundational layer for all portfolio recommendations.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7239000" y="3129855"/>
            <a:ext cx="4381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Inputs:</a:t>
            </a:r>
            <a:r>
              <a:rPr b="0" i="0" lang="en-US" sz="15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Analyzes age, income stability, knowledge, and liquidity needs.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7239000" y="3968055"/>
            <a:ext cx="4381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Process:</a:t>
            </a:r>
            <a:r>
              <a:rPr b="0" i="0" lang="en-US" sz="15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Categorizes users into Conservative, Moderate, or Aggressive profiles using Azure GPT.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7239000" y="5111055"/>
            <a:ext cx="4381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Impact:</a:t>
            </a:r>
            <a:r>
              <a:rPr b="0" i="0" lang="en-US" sz="15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Directly dictates the asset allocation strategy (Equity vs. Debt).</a:t>
            </a:r>
            <a:endParaRPr/>
          </a:p>
        </p:txBody>
      </p:sp>
      <p:pic>
        <p:nvPicPr>
          <p:cNvPr descr="image.png" id="191" name="Google Shape;191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62750" y="315843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62750" y="3996630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62750" y="5139630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8"/>
          <p:cNvSpPr txBox="1"/>
          <p:nvPr/>
        </p:nvSpPr>
        <p:spPr>
          <a:xfrm>
            <a:off x="571500" y="571500"/>
            <a:ext cx="11601450" cy="567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Risk Profiling Engine</a:t>
            </a:r>
            <a:endParaRPr/>
          </a:p>
        </p:txBody>
      </p:sp>
      <p:sp>
        <p:nvSpPr>
          <p:cNvPr id="195" name="Google Shape;195;p18"/>
          <p:cNvSpPr/>
          <p:nvPr/>
        </p:nvSpPr>
        <p:spPr>
          <a:xfrm>
            <a:off x="571500" y="1310580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0" name="Google Shape;20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710630"/>
            <a:ext cx="5238750" cy="45758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710630"/>
            <a:ext cx="5238750" cy="457586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571500" y="2529929"/>
            <a:ext cx="5500687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Lexend Medium"/>
                <a:ea typeface="Lexend Medium"/>
                <a:cs typeface="Lexend Medium"/>
                <a:sym typeface="Lexend Medium"/>
              </a:rPr>
              <a:t>Portfolio Building</a:t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571500" y="2849909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Constructs optimized asset allocations (Equity, Debt, Gold) strictly based on the user's risk profile.</a:t>
            </a:r>
            <a:endParaRPr/>
          </a:p>
        </p:txBody>
      </p:sp>
      <p:sp>
        <p:nvSpPr>
          <p:cNvPr id="205" name="Google Shape;205;p19"/>
          <p:cNvSpPr txBox="1"/>
          <p:nvPr/>
        </p:nvSpPr>
        <p:spPr>
          <a:xfrm>
            <a:off x="571500" y="3745259"/>
            <a:ext cx="5500687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Lexend Medium"/>
                <a:ea typeface="Lexend Medium"/>
                <a:cs typeface="Lexend Medium"/>
                <a:sym typeface="Lexend Medium"/>
              </a:rPr>
              <a:t>Monte Carlo Simulation</a:t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571500" y="4065240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Runs thousands of market scenarios to project future wealth.</a:t>
            </a:r>
            <a:endParaRPr/>
          </a:p>
        </p:txBody>
      </p:sp>
      <p:sp>
        <p:nvSpPr>
          <p:cNvPr id="207" name="Google Shape;207;p19"/>
          <p:cNvSpPr txBox="1"/>
          <p:nvPr/>
        </p:nvSpPr>
        <p:spPr>
          <a:xfrm>
            <a:off x="571500" y="4827240"/>
            <a:ext cx="523875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Outputs: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Best/Worst case scenarios, expected returns, and goal achievement probability.</a:t>
            </a:r>
            <a:endParaRPr/>
          </a:p>
        </p:txBody>
      </p:sp>
      <p:pic>
        <p:nvPicPr>
          <p:cNvPr descr="image.png" id="208" name="Google Shape;208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558504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773834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9"/>
          <p:cNvSpPr txBox="1"/>
          <p:nvPr/>
        </p:nvSpPr>
        <p:spPr>
          <a:xfrm>
            <a:off x="571500" y="571500"/>
            <a:ext cx="11601450" cy="567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Portfolio &amp; Simulation Engine</a:t>
            </a:r>
            <a:endParaRPr/>
          </a:p>
        </p:txBody>
      </p:sp>
      <p:sp>
        <p:nvSpPr>
          <p:cNvPr id="211" name="Google Shape;211;p19"/>
          <p:cNvSpPr/>
          <p:nvPr/>
        </p:nvSpPr>
        <p:spPr>
          <a:xfrm>
            <a:off x="571500" y="1310580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6" name="Google Shape;21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0"/>
          <p:cNvSpPr txBox="1"/>
          <p:nvPr/>
        </p:nvSpPr>
        <p:spPr>
          <a:xfrm>
            <a:off x="571500" y="762000"/>
            <a:ext cx="5200650" cy="567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Chatbot Interface</a:t>
            </a:r>
            <a:endParaRPr/>
          </a:p>
        </p:txBody>
      </p:sp>
      <p:sp>
        <p:nvSpPr>
          <p:cNvPr id="218" name="Google Shape;218;p20"/>
          <p:cNvSpPr/>
          <p:nvPr/>
        </p:nvSpPr>
        <p:spPr>
          <a:xfrm>
            <a:off x="571500" y="1501080"/>
            <a:ext cx="4953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9" name="Google Shape;21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0"/>
          <p:cNvSpPr txBox="1"/>
          <p:nvPr/>
        </p:nvSpPr>
        <p:spPr>
          <a:xfrm>
            <a:off x="571500" y="201736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Interactive Guidance:</a:t>
            </a:r>
            <a:r>
              <a:rPr b="0" i="0" lang="en-US" sz="15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A conversational interface that acts as the primary touchpoint for users.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571500" y="502726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Integration:</a:t>
            </a:r>
            <a:r>
              <a:rPr b="0" i="0" lang="en-US" sz="15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Seamlessly connects to the Risk and Portfolio engines in real-time.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571500" y="2969865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Workflow: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1428750" y="3427065"/>
            <a:ext cx="4095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User inputs financial goals and SIP details.</a:t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1428750" y="3960465"/>
            <a:ext cx="4095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Chatbot triggers backend tools for profiling.</a:t>
            </a:r>
            <a:endParaRPr/>
          </a:p>
        </p:txBody>
      </p:sp>
      <p:sp>
        <p:nvSpPr>
          <p:cNvPr id="225" name="Google Shape;225;p20"/>
          <p:cNvSpPr txBox="1"/>
          <p:nvPr/>
        </p:nvSpPr>
        <p:spPr>
          <a:xfrm>
            <a:off x="1428750" y="4493865"/>
            <a:ext cx="4095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Delivers structured advice and charts.</a:t>
            </a:r>
            <a:endParaRPr/>
          </a:p>
        </p:txBody>
      </p:sp>
      <p:pic>
        <p:nvPicPr>
          <p:cNvPr descr="image.png" id="226" name="Google Shape;22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345564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3989040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2500" y="4522440"/>
            <a:ext cx="17145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3" name="Google Shape;23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81250"/>
            <a:ext cx="2590800" cy="32346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90900" y="2381250"/>
            <a:ext cx="2590800" cy="32346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10300" y="2381250"/>
            <a:ext cx="2590800" cy="32346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29700" y="2381250"/>
            <a:ext cx="2590800" cy="32346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85900" y="267652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1"/>
          <p:cNvSpPr txBox="1"/>
          <p:nvPr/>
        </p:nvSpPr>
        <p:spPr>
          <a:xfrm>
            <a:off x="1316831" y="3629025"/>
            <a:ext cx="1100137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Lexend Medium"/>
                <a:ea typeface="Lexend Medium"/>
                <a:cs typeface="Lexend Medium"/>
                <a:sym typeface="Lexend Medium"/>
              </a:rPr>
              <a:t>Latency</a:t>
            </a:r>
            <a:endParaRPr/>
          </a:p>
        </p:txBody>
      </p:sp>
      <p:sp>
        <p:nvSpPr>
          <p:cNvPr id="240" name="Google Shape;240;p21"/>
          <p:cNvSpPr txBox="1"/>
          <p:nvPr/>
        </p:nvSpPr>
        <p:spPr>
          <a:xfrm>
            <a:off x="771525" y="3949005"/>
            <a:ext cx="21907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Response time measurement to ensure real-time interaction capabilities.</a:t>
            </a:r>
            <a:endParaRPr/>
          </a:p>
        </p:txBody>
      </p:sp>
      <p:pic>
        <p:nvPicPr>
          <p:cNvPr descr="image.png" id="241" name="Google Shape;241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05300" y="267652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1"/>
          <p:cNvSpPr txBox="1"/>
          <p:nvPr/>
        </p:nvSpPr>
        <p:spPr>
          <a:xfrm>
            <a:off x="3706177" y="3629025"/>
            <a:ext cx="196024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Lexend Medium"/>
                <a:ea typeface="Lexend Medium"/>
                <a:cs typeface="Lexend Medium"/>
                <a:sym typeface="Lexend Medium"/>
              </a:rPr>
              <a:t>RAG Accuracy</a:t>
            </a:r>
            <a:endParaRPr/>
          </a:p>
        </p:txBody>
      </p:sp>
      <p:sp>
        <p:nvSpPr>
          <p:cNvPr id="243" name="Google Shape;243;p21"/>
          <p:cNvSpPr txBox="1"/>
          <p:nvPr/>
        </p:nvSpPr>
        <p:spPr>
          <a:xfrm>
            <a:off x="3590925" y="3949005"/>
            <a:ext cx="2190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Precision and Recall scores for regulatory document retrieval.</a:t>
            </a:r>
            <a:endParaRPr/>
          </a:p>
        </p:txBody>
      </p:sp>
      <p:pic>
        <p:nvPicPr>
          <p:cNvPr descr="image.png" id="244" name="Google Shape;244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24700" y="267652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1"/>
          <p:cNvSpPr txBox="1"/>
          <p:nvPr/>
        </p:nvSpPr>
        <p:spPr>
          <a:xfrm>
            <a:off x="6765607" y="3629025"/>
            <a:ext cx="148018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Lexend Medium"/>
                <a:ea typeface="Lexend Medium"/>
                <a:cs typeface="Lexend Medium"/>
                <a:sym typeface="Lexend Medium"/>
              </a:rPr>
              <a:t>Simulation</a:t>
            </a:r>
            <a:endParaRPr/>
          </a:p>
        </p:txBody>
      </p:sp>
      <p:sp>
        <p:nvSpPr>
          <p:cNvPr id="246" name="Google Shape;246;p21"/>
          <p:cNvSpPr txBox="1"/>
          <p:nvPr/>
        </p:nvSpPr>
        <p:spPr>
          <a:xfrm>
            <a:off x="6410325" y="3949005"/>
            <a:ext cx="2190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Accuracy of Monte Carlo projections against historical data.</a:t>
            </a:r>
            <a:endParaRPr/>
          </a:p>
        </p:txBody>
      </p:sp>
      <p:pic>
        <p:nvPicPr>
          <p:cNvPr descr="image.png" id="247" name="Google Shape;247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944100" y="267652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1"/>
          <p:cNvSpPr txBox="1"/>
          <p:nvPr/>
        </p:nvSpPr>
        <p:spPr>
          <a:xfrm>
            <a:off x="9530000" y="3629025"/>
            <a:ext cx="1590198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Lexend Medium"/>
                <a:ea typeface="Lexend Medium"/>
                <a:cs typeface="Lexend Medium"/>
                <a:sym typeface="Lexend Medium"/>
              </a:rPr>
              <a:t>Blue-Rouge</a:t>
            </a:r>
            <a:endParaRPr/>
          </a:p>
        </p:txBody>
      </p:sp>
      <p:sp>
        <p:nvSpPr>
          <p:cNvPr id="249" name="Google Shape;249;p21"/>
          <p:cNvSpPr txBox="1"/>
          <p:nvPr/>
        </p:nvSpPr>
        <p:spPr>
          <a:xfrm>
            <a:off x="9229725" y="3949005"/>
            <a:ext cx="2190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Measures semantic alignment of generated advice with expert text.</a:t>
            </a:r>
            <a:endParaRPr/>
          </a:p>
        </p:txBody>
      </p:sp>
      <p:pic>
        <p:nvPicPr>
          <p:cNvPr descr="image.png" id="250" name="Google Shape;250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700212" y="2867025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495800" y="28670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339012" y="2867025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3" name="Google Shape;253;p2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182225" y="2867025"/>
            <a:ext cx="2857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1"/>
          <p:cNvSpPr txBox="1"/>
          <p:nvPr/>
        </p:nvSpPr>
        <p:spPr>
          <a:xfrm>
            <a:off x="571500" y="571500"/>
            <a:ext cx="11601450" cy="567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System Evaluation</a:t>
            </a:r>
            <a:endParaRPr/>
          </a:p>
        </p:txBody>
      </p:sp>
      <p:sp>
        <p:nvSpPr>
          <p:cNvPr id="255" name="Google Shape;255;p21"/>
          <p:cNvSpPr/>
          <p:nvPr/>
        </p:nvSpPr>
        <p:spPr>
          <a:xfrm>
            <a:off x="571500" y="1310580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0" name="Google Shape;26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2"/>
          <p:cNvSpPr txBox="1"/>
          <p:nvPr/>
        </p:nvSpPr>
        <p:spPr>
          <a:xfrm>
            <a:off x="2286000" y="2512665"/>
            <a:ext cx="8096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Challenge: Incorrect Risk Profiling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Solution:</a:t>
            </a:r>
            <a:r>
              <a:rPr b="0" i="0" lang="en-US" sz="15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Fine-tuned the profiling logic and implemented strict input validation layers.</a:t>
            </a:r>
            <a:endParaRPr/>
          </a:p>
        </p:txBody>
      </p:sp>
      <p:sp>
        <p:nvSpPr>
          <p:cNvPr id="262" name="Google Shape;262;p22"/>
          <p:cNvSpPr txBox="1"/>
          <p:nvPr/>
        </p:nvSpPr>
        <p:spPr>
          <a:xfrm>
            <a:off x="2286000" y="3503265"/>
            <a:ext cx="8096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Challenge: RAG Retrieval Performance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Solution:</a:t>
            </a:r>
            <a:r>
              <a:rPr b="0" i="0" lang="en-US" sz="15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Enhanced chunking strategies and adopted advanced semantic search embeddings.</a:t>
            </a:r>
            <a:endParaRPr/>
          </a:p>
        </p:txBody>
      </p:sp>
      <p:sp>
        <p:nvSpPr>
          <p:cNvPr id="263" name="Google Shape;263;p22"/>
          <p:cNvSpPr txBox="1"/>
          <p:nvPr/>
        </p:nvSpPr>
        <p:spPr>
          <a:xfrm>
            <a:off x="2286000" y="4798665"/>
            <a:ext cx="8096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Challenge: Chatbot Interaction Flow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Solution:</a:t>
            </a:r>
            <a:r>
              <a:rPr b="0" i="0" lang="en-US" sz="15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Integrated tool-based decision making for context-aware responses.</a:t>
            </a:r>
            <a:endParaRPr/>
          </a:p>
        </p:txBody>
      </p:sp>
      <p:pic>
        <p:nvPicPr>
          <p:cNvPr descr="image.png" id="264" name="Google Shape;26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254124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5" name="Google Shape;265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2550765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6" name="Google Shape;26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53184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7" name="Google Shape;267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541365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8" name="Google Shape;26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482724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9" name="Google Shape;269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4836765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2"/>
          <p:cNvSpPr txBox="1"/>
          <p:nvPr/>
        </p:nvSpPr>
        <p:spPr>
          <a:xfrm>
            <a:off x="571500" y="571500"/>
            <a:ext cx="11601450" cy="567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Challenges &amp; Solutions</a:t>
            </a:r>
            <a:endParaRPr/>
          </a:p>
        </p:txBody>
      </p:sp>
      <p:sp>
        <p:nvSpPr>
          <p:cNvPr id="271" name="Google Shape;271;p22"/>
          <p:cNvSpPr/>
          <p:nvPr/>
        </p:nvSpPr>
        <p:spPr>
          <a:xfrm>
            <a:off x="571500" y="1310580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6" name="Google Shape;27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7" name="Google Shape;27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12665"/>
            <a:ext cx="3530500" cy="2971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8" name="Google Shape;278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0600" y="2512665"/>
            <a:ext cx="3530649" cy="2971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9" name="Google Shape;27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89850" y="2512665"/>
            <a:ext cx="3530500" cy="2971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0" name="Google Shape;280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512665"/>
            <a:ext cx="35305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1" name="Google Shape;281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30600" y="2512665"/>
            <a:ext cx="3530649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2" name="Google Shape;282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89850" y="2512665"/>
            <a:ext cx="353050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3"/>
          <p:cNvSpPr txBox="1"/>
          <p:nvPr/>
        </p:nvSpPr>
        <p:spPr>
          <a:xfrm>
            <a:off x="762000" y="4989165"/>
            <a:ext cx="3149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2E8F0"/>
                </a:solidFill>
                <a:latin typeface="Inter Medium"/>
                <a:ea typeface="Inter Medium"/>
                <a:cs typeface="Inter Medium"/>
                <a:sym typeface="Inter Medium"/>
              </a:rPr>
              <a:t>Expanded Document Base</a:t>
            </a:r>
            <a:endParaRPr/>
          </a:p>
        </p:txBody>
      </p:sp>
      <p:sp>
        <p:nvSpPr>
          <p:cNvPr id="284" name="Google Shape;284;p23"/>
          <p:cNvSpPr txBox="1"/>
          <p:nvPr/>
        </p:nvSpPr>
        <p:spPr>
          <a:xfrm>
            <a:off x="4521100" y="4989165"/>
            <a:ext cx="314964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2E8F0"/>
                </a:solidFill>
                <a:latin typeface="Inter Medium"/>
                <a:ea typeface="Inter Medium"/>
                <a:cs typeface="Inter Medium"/>
                <a:sym typeface="Inter Medium"/>
              </a:rPr>
              <a:t>Real-Time Market Data</a:t>
            </a:r>
            <a:endParaRPr/>
          </a:p>
        </p:txBody>
      </p:sp>
      <p:sp>
        <p:nvSpPr>
          <p:cNvPr id="285" name="Google Shape;285;p23"/>
          <p:cNvSpPr txBox="1"/>
          <p:nvPr/>
        </p:nvSpPr>
        <p:spPr>
          <a:xfrm>
            <a:off x="8280350" y="4989165"/>
            <a:ext cx="3149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2E8F0"/>
                </a:solidFill>
                <a:latin typeface="Inter Medium"/>
                <a:ea typeface="Inter Medium"/>
                <a:cs typeface="Inter Medium"/>
                <a:sym typeface="Inter Medium"/>
              </a:rPr>
              <a:t>Advanced Analytics</a:t>
            </a:r>
            <a:endParaRPr/>
          </a:p>
        </p:txBody>
      </p:sp>
      <p:pic>
        <p:nvPicPr>
          <p:cNvPr descr="image.png" id="286" name="Google Shape;286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2512665"/>
            <a:ext cx="35305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7" name="Google Shape;287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330600" y="2512665"/>
            <a:ext cx="3530649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8" name="Google Shape;288;p2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089850" y="2512665"/>
            <a:ext cx="353050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3"/>
          <p:cNvSpPr txBox="1"/>
          <p:nvPr/>
        </p:nvSpPr>
        <p:spPr>
          <a:xfrm>
            <a:off x="571500" y="571500"/>
            <a:ext cx="11601450" cy="567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Future Roadmap</a:t>
            </a:r>
            <a:endParaRPr/>
          </a:p>
        </p:txBody>
      </p:sp>
      <p:sp>
        <p:nvSpPr>
          <p:cNvPr id="290" name="Google Shape;290;p23"/>
          <p:cNvSpPr/>
          <p:nvPr/>
        </p:nvSpPr>
        <p:spPr>
          <a:xfrm>
            <a:off x="571500" y="1310580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5" name="Google Shape;29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6" name="Google Shape;29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710630"/>
            <a:ext cx="5238750" cy="4575869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4"/>
          <p:cNvSpPr txBox="1"/>
          <p:nvPr/>
        </p:nvSpPr>
        <p:spPr>
          <a:xfrm>
            <a:off x="571500" y="2103090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We have successfully developed an AI-driven financial advisor that empowers users with reliable, automated guidance.</a:t>
            </a:r>
            <a:endParaRPr/>
          </a:p>
        </p:txBody>
      </p:sp>
      <p:sp>
        <p:nvSpPr>
          <p:cNvPr id="298" name="Google Shape;298;p24"/>
          <p:cNvSpPr txBox="1"/>
          <p:nvPr/>
        </p:nvSpPr>
        <p:spPr>
          <a:xfrm>
            <a:off x="571500" y="5132040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Transforming complex financial planning into an accessible conversation.</a:t>
            </a:r>
            <a:endParaRPr/>
          </a:p>
        </p:txBody>
      </p:sp>
      <p:pic>
        <p:nvPicPr>
          <p:cNvPr descr="image.png" id="299" name="Google Shape;299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710630"/>
            <a:ext cx="5238750" cy="4575869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4"/>
          <p:cNvSpPr txBox="1"/>
          <p:nvPr/>
        </p:nvSpPr>
        <p:spPr>
          <a:xfrm>
            <a:off x="1428750" y="3169890"/>
            <a:ext cx="4381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Personalized:</a:t>
            </a:r>
            <a:r>
              <a:rPr b="0" i="0" lang="en-US" sz="15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Tailored advice via robust profiling.</a:t>
            </a:r>
            <a:endParaRPr/>
          </a:p>
        </p:txBody>
      </p:sp>
      <p:sp>
        <p:nvSpPr>
          <p:cNvPr id="301" name="Google Shape;301;p24"/>
          <p:cNvSpPr txBox="1"/>
          <p:nvPr/>
        </p:nvSpPr>
        <p:spPr>
          <a:xfrm>
            <a:off x="1428750" y="4008090"/>
            <a:ext cx="4381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Reliable:</a:t>
            </a:r>
            <a:r>
              <a:rPr b="0" i="0" lang="en-US" sz="15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Backend-powered simulations.</a:t>
            </a:r>
            <a:endParaRPr/>
          </a:p>
        </p:txBody>
      </p:sp>
      <p:sp>
        <p:nvSpPr>
          <p:cNvPr id="302" name="Google Shape;302;p24"/>
          <p:cNvSpPr txBox="1"/>
          <p:nvPr/>
        </p:nvSpPr>
        <p:spPr>
          <a:xfrm>
            <a:off x="1428750" y="4541490"/>
            <a:ext cx="4381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Seamless:</a:t>
            </a:r>
            <a:r>
              <a:rPr b="0" i="0" lang="en-US" sz="15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Intuitive chatbot interface.</a:t>
            </a:r>
            <a:endParaRPr/>
          </a:p>
        </p:txBody>
      </p:sp>
      <p:pic>
        <p:nvPicPr>
          <p:cNvPr descr="image.png" id="303" name="Google Shape;303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319846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4" name="Google Shape;304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403666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5" name="Google Shape;305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4570065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4"/>
          <p:cNvSpPr txBox="1"/>
          <p:nvPr/>
        </p:nvSpPr>
        <p:spPr>
          <a:xfrm>
            <a:off x="571500" y="571500"/>
            <a:ext cx="11601450" cy="567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Conclusion</a:t>
            </a:r>
            <a:endParaRPr/>
          </a:p>
        </p:txBody>
      </p:sp>
      <p:sp>
        <p:nvSpPr>
          <p:cNvPr id="307" name="Google Shape;307;p24"/>
          <p:cNvSpPr/>
          <p:nvPr/>
        </p:nvSpPr>
        <p:spPr>
          <a:xfrm>
            <a:off x="571500" y="1310580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2" name="Google Shape;31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5"/>
          <p:cNvSpPr txBox="1"/>
          <p:nvPr/>
        </p:nvSpPr>
        <p:spPr>
          <a:xfrm>
            <a:off x="295275" y="571500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38BDF8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Questions?</a:t>
            </a:r>
            <a:endParaRPr/>
          </a:p>
        </p:txBody>
      </p:sp>
      <p:sp>
        <p:nvSpPr>
          <p:cNvPr id="314" name="Google Shape;314;p25"/>
          <p:cNvSpPr txBox="1"/>
          <p:nvPr/>
        </p:nvSpPr>
        <p:spPr>
          <a:xfrm>
            <a:off x="571500" y="20955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Thank you for your attention.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9" name="Google Shape;31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6"/>
          <p:cNvSpPr/>
          <p:nvPr/>
        </p:nvSpPr>
        <p:spPr>
          <a:xfrm>
            <a:off x="571500" y="1710630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6"/>
          <p:cNvSpPr/>
          <p:nvPr/>
        </p:nvSpPr>
        <p:spPr>
          <a:xfrm>
            <a:off x="571500" y="2495401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6"/>
          <p:cNvSpPr/>
          <p:nvPr/>
        </p:nvSpPr>
        <p:spPr>
          <a:xfrm>
            <a:off x="571500" y="3280171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6"/>
          <p:cNvSpPr/>
          <p:nvPr/>
        </p:nvSpPr>
        <p:spPr>
          <a:xfrm>
            <a:off x="571500" y="4064942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6"/>
          <p:cNvSpPr/>
          <p:nvPr/>
        </p:nvSpPr>
        <p:spPr>
          <a:xfrm>
            <a:off x="571500" y="4849713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6"/>
          <p:cNvSpPr/>
          <p:nvPr/>
        </p:nvSpPr>
        <p:spPr>
          <a:xfrm>
            <a:off x="571500" y="248587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6"/>
          <p:cNvSpPr/>
          <p:nvPr/>
        </p:nvSpPr>
        <p:spPr>
          <a:xfrm>
            <a:off x="571500" y="248587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6"/>
          <p:cNvSpPr/>
          <p:nvPr/>
        </p:nvSpPr>
        <p:spPr>
          <a:xfrm>
            <a:off x="571500" y="327064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6"/>
          <p:cNvSpPr/>
          <p:nvPr/>
        </p:nvSpPr>
        <p:spPr>
          <a:xfrm>
            <a:off x="571500" y="327064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6"/>
          <p:cNvSpPr/>
          <p:nvPr/>
        </p:nvSpPr>
        <p:spPr>
          <a:xfrm>
            <a:off x="571500" y="405541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6"/>
          <p:cNvSpPr/>
          <p:nvPr/>
        </p:nvSpPr>
        <p:spPr>
          <a:xfrm>
            <a:off x="571500" y="405541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6"/>
          <p:cNvSpPr/>
          <p:nvPr/>
        </p:nvSpPr>
        <p:spPr>
          <a:xfrm>
            <a:off x="571500" y="484018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6"/>
          <p:cNvSpPr/>
          <p:nvPr/>
        </p:nvSpPr>
        <p:spPr>
          <a:xfrm>
            <a:off x="571500" y="484018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6"/>
          <p:cNvSpPr/>
          <p:nvPr/>
        </p:nvSpPr>
        <p:spPr>
          <a:xfrm>
            <a:off x="571500" y="562495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6"/>
          <p:cNvSpPr/>
          <p:nvPr/>
        </p:nvSpPr>
        <p:spPr>
          <a:xfrm>
            <a:off x="571500" y="562495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35" name="Google Shape;335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6005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26"/>
          <p:cNvSpPr txBox="1"/>
          <p:nvPr/>
        </p:nvSpPr>
        <p:spPr>
          <a:xfrm>
            <a:off x="1666875" y="1853505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https://www.hostinger.com/tutorials/wp-content/uploads/sites/2/2025/05/Web-application-architecture-diagram.png</a:t>
            </a:r>
            <a:endParaRPr/>
          </a:p>
        </p:txBody>
      </p:sp>
      <p:sp>
        <p:nvSpPr>
          <p:cNvPr id="337" name="Google Shape;337;p26"/>
          <p:cNvSpPr txBox="1"/>
          <p:nvPr/>
        </p:nvSpPr>
        <p:spPr>
          <a:xfrm>
            <a:off x="1666875" y="2099220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www.hostinger.com</a:t>
            </a:r>
            <a:endParaRPr/>
          </a:p>
        </p:txBody>
      </p:sp>
      <p:pic>
        <p:nvPicPr>
          <p:cNvPr descr="image.png" id="338" name="Google Shape;338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64482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26"/>
          <p:cNvSpPr txBox="1"/>
          <p:nvPr/>
        </p:nvSpPr>
        <p:spPr>
          <a:xfrm>
            <a:off x="1666875" y="2638276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https://miro.medium.com/v2/resize:fit:587/1*apjVlAqa28cvkbQZjGdNkQ.jpeg</a:t>
            </a:r>
            <a:endParaRPr/>
          </a:p>
        </p:txBody>
      </p:sp>
      <p:sp>
        <p:nvSpPr>
          <p:cNvPr id="340" name="Google Shape;340;p26"/>
          <p:cNvSpPr txBox="1"/>
          <p:nvPr/>
        </p:nvSpPr>
        <p:spPr>
          <a:xfrm>
            <a:off x="1666875" y="2883991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medium.com</a:t>
            </a:r>
            <a:endParaRPr/>
          </a:p>
        </p:txBody>
      </p:sp>
      <p:pic>
        <p:nvPicPr>
          <p:cNvPr descr="image.png" id="341" name="Google Shape;341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42959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26"/>
          <p:cNvSpPr txBox="1"/>
          <p:nvPr/>
        </p:nvSpPr>
        <p:spPr>
          <a:xfrm>
            <a:off x="1666875" y="3423046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https://www.fisdom.com/wp-content/uploads/2021/03/riskometer.jpg</a:t>
            </a:r>
            <a:endParaRPr/>
          </a:p>
        </p:txBody>
      </p:sp>
      <p:sp>
        <p:nvSpPr>
          <p:cNvPr id="343" name="Google Shape;343;p26"/>
          <p:cNvSpPr txBox="1"/>
          <p:nvPr/>
        </p:nvSpPr>
        <p:spPr>
          <a:xfrm>
            <a:off x="1666875" y="3668762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www.fisdom.com</a:t>
            </a:r>
            <a:endParaRPr/>
          </a:p>
        </p:txBody>
      </p:sp>
      <p:pic>
        <p:nvPicPr>
          <p:cNvPr descr="image.png" id="344" name="Google Shape;344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21436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26"/>
          <p:cNvSpPr txBox="1"/>
          <p:nvPr/>
        </p:nvSpPr>
        <p:spPr>
          <a:xfrm>
            <a:off x="1666875" y="4207817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https://i.imgur.com/Uu7DVPn.jpg</a:t>
            </a:r>
            <a:endParaRPr/>
          </a:p>
        </p:txBody>
      </p:sp>
      <p:sp>
        <p:nvSpPr>
          <p:cNvPr id="346" name="Google Shape;346;p26"/>
          <p:cNvSpPr txBox="1"/>
          <p:nvPr/>
        </p:nvSpPr>
        <p:spPr>
          <a:xfrm>
            <a:off x="1666875" y="4453532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analytica.com</a:t>
            </a:r>
            <a:endParaRPr/>
          </a:p>
        </p:txBody>
      </p:sp>
      <p:pic>
        <p:nvPicPr>
          <p:cNvPr descr="image.png" id="347" name="Google Shape;347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99913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26"/>
          <p:cNvSpPr txBox="1"/>
          <p:nvPr/>
        </p:nvSpPr>
        <p:spPr>
          <a:xfrm>
            <a:off x="1666875" y="4992588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https://www.tidio.com/wp-content/uploads/financial-chatbots-700x510.png</a:t>
            </a:r>
            <a:endParaRPr/>
          </a:p>
        </p:txBody>
      </p:sp>
      <p:sp>
        <p:nvSpPr>
          <p:cNvPr id="349" name="Google Shape;349;p26"/>
          <p:cNvSpPr txBox="1"/>
          <p:nvPr/>
        </p:nvSpPr>
        <p:spPr>
          <a:xfrm>
            <a:off x="1666875" y="5238303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www.tidio.com</a:t>
            </a:r>
            <a:endParaRPr/>
          </a:p>
        </p:txBody>
      </p:sp>
      <p:pic>
        <p:nvPicPr>
          <p:cNvPr descr="image.png" id="350" name="Google Shape;350;p2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588302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26"/>
          <p:cNvSpPr txBox="1"/>
          <p:nvPr/>
        </p:nvSpPr>
        <p:spPr>
          <a:xfrm>
            <a:off x="1666875" y="5777358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https://static.vecteezy.com/system/resources/previews/071/433/696/non_2x/digital-compliance-check-with-magnifying-glass-icon-representing-regulation-validation-contract-approval-policy-governance-corporate-transparency-legal-documentation-and-secure-audit-workflow-free-photo.jpg</a:t>
            </a:r>
            <a:endParaRPr/>
          </a:p>
        </p:txBody>
      </p:sp>
      <p:sp>
        <p:nvSpPr>
          <p:cNvPr id="352" name="Google Shape;352;p26"/>
          <p:cNvSpPr txBox="1"/>
          <p:nvPr/>
        </p:nvSpPr>
        <p:spPr>
          <a:xfrm>
            <a:off x="1666875" y="6221164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www.vecteezy.com</a:t>
            </a:r>
            <a:endParaRPr/>
          </a:p>
        </p:txBody>
      </p:sp>
      <p:sp>
        <p:nvSpPr>
          <p:cNvPr id="353" name="Google Shape;353;p26"/>
          <p:cNvSpPr txBox="1"/>
          <p:nvPr/>
        </p:nvSpPr>
        <p:spPr>
          <a:xfrm>
            <a:off x="571500" y="571500"/>
            <a:ext cx="11601450" cy="567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Image Sources</a:t>
            </a:r>
            <a:endParaRPr/>
          </a:p>
        </p:txBody>
      </p:sp>
      <p:sp>
        <p:nvSpPr>
          <p:cNvPr id="354" name="Google Shape;354;p26"/>
          <p:cNvSpPr/>
          <p:nvPr/>
        </p:nvSpPr>
        <p:spPr>
          <a:xfrm>
            <a:off x="571500" y="1310580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9" name="Google Shape;35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27"/>
          <p:cNvSpPr/>
          <p:nvPr/>
        </p:nvSpPr>
        <p:spPr>
          <a:xfrm>
            <a:off x="571500" y="2826097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7"/>
          <p:cNvSpPr/>
          <p:nvPr/>
        </p:nvSpPr>
        <p:spPr>
          <a:xfrm>
            <a:off x="571500" y="3610867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7"/>
          <p:cNvSpPr/>
          <p:nvPr/>
        </p:nvSpPr>
        <p:spPr>
          <a:xfrm>
            <a:off x="571500" y="360134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7"/>
          <p:cNvSpPr/>
          <p:nvPr/>
        </p:nvSpPr>
        <p:spPr>
          <a:xfrm>
            <a:off x="571500" y="360134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7"/>
          <p:cNvSpPr/>
          <p:nvPr/>
        </p:nvSpPr>
        <p:spPr>
          <a:xfrm>
            <a:off x="571500" y="438611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7"/>
          <p:cNvSpPr/>
          <p:nvPr/>
        </p:nvSpPr>
        <p:spPr>
          <a:xfrm>
            <a:off x="571500" y="438611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66" name="Google Shape;366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97552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27"/>
          <p:cNvSpPr txBox="1"/>
          <p:nvPr/>
        </p:nvSpPr>
        <p:spPr>
          <a:xfrm>
            <a:off x="1666875" y="2968972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https://www.risedisplay.com/wp-content/uploads/2025/04/financial-hero-min.webp</a:t>
            </a:r>
            <a:endParaRPr/>
          </a:p>
        </p:txBody>
      </p:sp>
      <p:sp>
        <p:nvSpPr>
          <p:cNvPr id="368" name="Google Shape;368;p27"/>
          <p:cNvSpPr txBox="1"/>
          <p:nvPr/>
        </p:nvSpPr>
        <p:spPr>
          <a:xfrm>
            <a:off x="1666875" y="3214687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www.risedisplay.com</a:t>
            </a:r>
            <a:endParaRPr/>
          </a:p>
        </p:txBody>
      </p:sp>
      <p:pic>
        <p:nvPicPr>
          <p:cNvPr descr="image.png" id="369" name="Google Shape;369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76029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27"/>
          <p:cNvSpPr txBox="1"/>
          <p:nvPr/>
        </p:nvSpPr>
        <p:spPr>
          <a:xfrm>
            <a:off x="1666875" y="3753742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http://www.finereport.com/en/wp-content/themes/blogs/images/2019061102A.gif</a:t>
            </a:r>
            <a:endParaRPr/>
          </a:p>
        </p:txBody>
      </p:sp>
      <p:sp>
        <p:nvSpPr>
          <p:cNvPr id="371" name="Google Shape;371;p27"/>
          <p:cNvSpPr txBox="1"/>
          <p:nvPr/>
        </p:nvSpPr>
        <p:spPr>
          <a:xfrm>
            <a:off x="1666875" y="3999458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www.finereport.com</a:t>
            </a:r>
            <a:endParaRPr/>
          </a:p>
        </p:txBody>
      </p:sp>
      <p:pic>
        <p:nvPicPr>
          <p:cNvPr descr="image.png" id="372" name="Google Shape;372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5450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27"/>
          <p:cNvSpPr txBox="1"/>
          <p:nvPr/>
        </p:nvSpPr>
        <p:spPr>
          <a:xfrm>
            <a:off x="1666875" y="4538513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https://divcomplatform.s3.amazonaws.com/www.iofm.com/images/crop.WebinarFeatured_77.jpg.large-1024x600.1024x600.jpg</a:t>
            </a:r>
            <a:endParaRPr/>
          </a:p>
        </p:txBody>
      </p:sp>
      <p:sp>
        <p:nvSpPr>
          <p:cNvPr id="374" name="Google Shape;374;p27"/>
          <p:cNvSpPr txBox="1"/>
          <p:nvPr/>
        </p:nvSpPr>
        <p:spPr>
          <a:xfrm>
            <a:off x="1666875" y="4784228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www.iofm.com</a:t>
            </a:r>
            <a:endParaRPr/>
          </a:p>
        </p:txBody>
      </p:sp>
      <p:sp>
        <p:nvSpPr>
          <p:cNvPr id="375" name="Google Shape;375;p27"/>
          <p:cNvSpPr txBox="1"/>
          <p:nvPr/>
        </p:nvSpPr>
        <p:spPr>
          <a:xfrm>
            <a:off x="571500" y="571500"/>
            <a:ext cx="11601450" cy="567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Image Sources</a:t>
            </a:r>
            <a:endParaRPr/>
          </a:p>
        </p:txBody>
      </p:sp>
      <p:sp>
        <p:nvSpPr>
          <p:cNvPr id="376" name="Google Shape;376;p27"/>
          <p:cNvSpPr/>
          <p:nvPr/>
        </p:nvSpPr>
        <p:spPr>
          <a:xfrm>
            <a:off x="571500" y="1310580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